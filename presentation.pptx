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2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B4D8"/>
                </a:solidFill>
              </a:rPr>
              <a:t>MW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Emergency Response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46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Microservices Architecture · Database Design · Tech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E0EF"/>
                </a:solidFill>
              </a:rPr>
              <a:t>System Design Overview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What Is MW?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CD6E0"/>
                </a:solidFill>
              </a:rPr>
              <a:t>MW is a real-time emergency dispatch and coordination platform designed to streamline incident reporting, resource dispatching, live tracking, and post-incident analytics for police, fire, and ambulance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3566160" cy="2560320"/>
          </a:xfrm>
          <a:prstGeom prst="rect">
            <a:avLst/>
          </a:prstGeom>
          <a:solidFill>
            <a:srgbClr val="12283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E0EF"/>
                </a:solidFill>
              </a:rPr>
              <a:t>Real-time Incidents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Report, triage, and track emergency incidents as they happen.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2743200"/>
            <a:ext cx="3566160" cy="2560320"/>
          </a:xfrm>
          <a:prstGeom prst="rect">
            <a:avLst/>
          </a:prstGeom>
          <a:solidFill>
            <a:srgbClr val="12283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2834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E0EF"/>
                </a:solidFill>
              </a:rPr>
              <a:t>Smart 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840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Auto-assign nearest available vehicles using geo-proximity.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743200"/>
            <a:ext cx="3566160" cy="2560320"/>
          </a:xfrm>
          <a:prstGeom prst="rect">
            <a:avLst/>
          </a:prstGeom>
          <a:solidFill>
            <a:srgbClr val="12283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83464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3832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E0EF"/>
                </a:solidFill>
              </a:rP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404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Aggregate facts from all services for reporting &amp;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1828800" cy="594360"/>
          </a:xfrm>
          <a:prstGeom prst="rect">
            <a:avLst/>
          </a:prstGeom>
          <a:solidFill>
            <a:srgbClr val="1228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14300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B4D8"/>
                </a:solidFill>
              </a:rPr>
              <a:t>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051560"/>
            <a:ext cx="8961120" cy="594360"/>
          </a:xfrm>
          <a:prstGeom prst="rect">
            <a:avLst/>
          </a:prstGeom>
          <a:solidFill>
            <a:srgbClr val="12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1430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React Router v7 SPA + SSR  |  Mapbox / Google Maps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307592"/>
            <a:ext cx="2743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03120"/>
            <a:ext cx="1828800" cy="594360"/>
          </a:xfrm>
          <a:prstGeom prst="rect">
            <a:avLst/>
          </a:prstGeom>
          <a:solidFill>
            <a:srgbClr val="1228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19456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A0"/>
                </a:solidFill>
              </a:rPr>
              <a:t>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2103120"/>
            <a:ext cx="8961120" cy="594360"/>
          </a:xfrm>
          <a:prstGeom prst="rect">
            <a:avLst/>
          </a:prstGeom>
          <a:solidFill>
            <a:srgbClr val="12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219456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Hono API Gateway  |  JWT Auth Middleware  |  Route Proxy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359152"/>
            <a:ext cx="274320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3154680"/>
            <a:ext cx="1828800" cy="594360"/>
          </a:xfrm>
          <a:prstGeom prst="rect">
            <a:avLst/>
          </a:prstGeom>
          <a:solidFill>
            <a:srgbClr val="12283D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46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B703"/>
                </a:solidFill>
              </a:rPr>
              <a:t>SERVICES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3154680"/>
            <a:ext cx="8961120" cy="594360"/>
          </a:xfrm>
          <a:prstGeom prst="rect">
            <a:avLst/>
          </a:prstGeom>
          <a:solidFill>
            <a:srgbClr val="12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32461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Auth  ·  Incident  ·  Dispatch  ·  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3410712"/>
            <a:ext cx="274320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206240"/>
            <a:ext cx="1828800" cy="594360"/>
          </a:xfrm>
          <a:prstGeom prst="rect">
            <a:avLst/>
          </a:prstGeom>
          <a:solidFill>
            <a:srgbClr val="12283D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97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90E0EF"/>
                </a:solidFill>
              </a:rPr>
              <a:t>MESSAGING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4206240"/>
            <a:ext cx="8961120" cy="594360"/>
          </a:xfrm>
          <a:prstGeom prst="rect">
            <a:avLst/>
          </a:prstGeom>
          <a:solidFill>
            <a:srgbClr val="12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77440" y="429768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Redis Streams  |  Transactional Outbox Pattern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4462272"/>
            <a:ext cx="274320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257800"/>
            <a:ext cx="1828800" cy="594360"/>
          </a:xfrm>
          <a:prstGeom prst="rect">
            <a:avLst/>
          </a:prstGeom>
          <a:solidFill>
            <a:srgbClr val="12283D"/>
          </a:solidFill>
          <a:ln w="19050">
            <a:solidFill>
              <a:srgbClr val="CC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349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CD6E0"/>
                </a:solidFill>
              </a:rPr>
              <a:t>DATA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5257800"/>
            <a:ext cx="8961120" cy="594360"/>
          </a:xfrm>
          <a:prstGeom prst="rect">
            <a:avLst/>
          </a:prstGeom>
          <a:solidFill>
            <a:srgbClr val="12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53492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PostgreSQL (per-service)  |  PostGIS extension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11680" y="5513832"/>
            <a:ext cx="274320" cy="73152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Microservices Breakdown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2834640" cy="5394960"/>
          </a:xfrm>
          <a:prstGeom prst="rect">
            <a:avLst/>
          </a:prstGeom>
          <a:solidFill>
            <a:srgbClr val="1228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Auth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47088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737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JWT RS256 (asymmetric keys)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86000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1762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Argon2 password hashing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24912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6151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Refresh token rotation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63824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305409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Role-based: admin / super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02736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4930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Affiliation: police / fire / hospital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7832" y="1005840"/>
            <a:ext cx="2834640" cy="5394960"/>
          </a:xfrm>
          <a:prstGeom prst="rect">
            <a:avLst/>
          </a:prstGeom>
          <a:solidFill>
            <a:srgbClr val="1228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</a:rPr>
              <a:t>Incident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9272" y="1600200"/>
            <a:ext cx="265176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64992" y="1847088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1737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CRUD for emergency incidents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4992" y="2286000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21762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Status lifecycle FSM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724912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26151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Geo-proximity responder 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64992" y="3163824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05409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PostGIS spatial extension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64992" y="3602736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4930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Outbox → Redis Streams publish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27064" y="1005840"/>
            <a:ext cx="2834640" cy="5394960"/>
          </a:xfrm>
          <a:prstGeom prst="rect">
            <a:avLst/>
          </a:prstGeom>
          <a:solidFill>
            <a:srgbClr val="12283D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B703"/>
                </a:solidFill>
              </a:rPr>
              <a:t>Dispatch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8504" y="1600200"/>
            <a:ext cx="265176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64224" y="1847088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1737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Vehicle &amp; station registry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4224" y="2286000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21762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Driver location tracking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4224" y="2724912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672" y="26151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Auto-dispatch on incident event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64224" y="3163824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305409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SSE live tracking endpoint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64224" y="3602736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9672" y="34930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Outbox → Redis Streams publish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26296" y="1005840"/>
            <a:ext cx="2834640" cy="5394960"/>
          </a:xfrm>
          <a:prstGeom prst="rect">
            <a:avLst/>
          </a:prstGeom>
          <a:solidFill>
            <a:srgbClr val="12283D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63456" y="10972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0E0EF"/>
                </a:solidFill>
              </a:rPr>
              <a:t>Analytics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317736" y="1600200"/>
            <a:ext cx="265176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363456" y="1847088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18904" y="1737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Consumes events from Redis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63456" y="2286000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8904" y="21762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Fact table ingestion (ETL)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63456" y="2724912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18904" y="261518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Incident / dispatch / hospital facts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63456" y="3163824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18904" y="305409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Aggregate dashboards &amp; trends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63456" y="3602736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518904" y="349300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D6E0"/>
                </a:solidFill>
              </a:rPr>
              <a:t>Read-optimised schema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API Gateway — Design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731520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Single Entry 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14300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All client traffic flows through the gateway on port 4000. Services are never exposed directly.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93392"/>
            <a:ext cx="11247120" cy="731520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391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Auth at the 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03911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Gateway verifies RS256 JWT before proxying. Downstream services trust forwarded user claims — zero auth duplication.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89504"/>
            <a:ext cx="11247120" cy="731520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3522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Asymmetric JWT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35224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Auth service signs with private key; gateway only holds the public key. Compromise of gateway ≠ compromise of auth.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85616"/>
            <a:ext cx="11247120" cy="731520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3133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Route-Based Proxying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831336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Prefix matching (/api/incident, /api/dispatch, /api/analytics) — easy to add or reroute services via env vars.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81728"/>
            <a:ext cx="11247120" cy="731520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7274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Swagger Pass-Through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727448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Doc &amp; UI routes bypass JWT so developers can browse OpenAPI specs without a token.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Event-Driven Messaging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0972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Incident / Dispatch writes to local Outbox table inside the same DB transaction.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" y="1600200"/>
            <a:ext cx="73152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11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Background publisher polls Outbox, publishes entries to a Redis Stream.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" y="2514600"/>
            <a:ext cx="73152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Consumer services (Dispatch, Analytics) read from the stream via consumer groups.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" y="3429000"/>
            <a:ext cx="73152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40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On success → Outbox entry marked published. On failure → exponential backoff retry.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846320"/>
            <a:ext cx="11247120" cy="914400"/>
          </a:xfrm>
          <a:prstGeom prst="rect">
            <a:avLst/>
          </a:prstGeom>
          <a:solidFill>
            <a:srgbClr val="1228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919472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Why Transactional Outbox?  →  Guarantees at-least-once delivery without distributed transactions. If the service crashes after writing to the DB but before publishing, the poller retries — no lost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0E0EF"/>
                </a:solidFill>
              </a:rPr>
              <a:t>Database-per-Service  —  each microservice owns its PostgreSQL database; no shared tables, no cross-service foreign keys.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554480"/>
            <a:ext cx="2834640" cy="4389120"/>
          </a:xfrm>
          <a:prstGeom prst="rect">
            <a:avLst/>
          </a:prstGeom>
          <a:solidFill>
            <a:srgbClr val="1228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Auth DB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103120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350008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2240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User + Role + Affiliation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788920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26791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AuthCredential (Argon2 hash)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27832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31181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RefreshToken (TTL)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27832" y="1554480"/>
            <a:ext cx="2834640" cy="4389120"/>
          </a:xfrm>
          <a:prstGeom prst="rect">
            <a:avLst/>
          </a:prstGeom>
          <a:solidFill>
            <a:srgbClr val="1228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64992" y="1645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</a:rPr>
              <a:t>Incident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9272" y="2103120"/>
            <a:ext cx="265176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2" y="2350008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0440" y="2240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Incident (JSON type/loc/priority)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4992" y="2788920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6791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PostGIS geometry column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64992" y="3227832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1181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Outbox (transactional)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27064" y="1554480"/>
            <a:ext cx="2834640" cy="4389120"/>
          </a:xfrm>
          <a:prstGeom prst="rect">
            <a:avLst/>
          </a:prstGeom>
          <a:solidFill>
            <a:srgbClr val="12283D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64224" y="1645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B703"/>
                </a:solidFill>
              </a:rPr>
              <a:t>Dispatch DB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8504" y="2103120"/>
            <a:ext cx="265176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4224" y="2350008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240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Hospital · Station · Vehicle · Driver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64224" y="2788920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26791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VehicleLocation / DriverLocation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4224" y="3227832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31181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Dispatch · Outbox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26296" y="1554480"/>
            <a:ext cx="2834640" cy="4389120"/>
          </a:xfrm>
          <a:prstGeom prst="rect">
            <a:avLst/>
          </a:prstGeom>
          <a:solidFill>
            <a:srgbClr val="12283D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63456" y="1645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E0EF"/>
                </a:solidFill>
              </a:rPr>
              <a:t>Analytics DB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17736" y="2103120"/>
            <a:ext cx="265176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363456" y="2350008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18904" y="2240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IncidentFact (read-optimised)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63456" y="2788920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18904" y="26791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DispatchFact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63456" y="3227832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18904" y="311810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HospitalCapacityFact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CCD6E0"/>
                </a:solidFill>
              </a:rPr>
              <a:t>Cross-service references use string IDs (no FK). PostGIS enabled on incident DB for geo queries.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2834640" cy="5303520"/>
          </a:xfrm>
          <a:prstGeom prst="rect">
            <a:avLst/>
          </a:prstGeom>
          <a:solidFill>
            <a:srgbClr val="12283D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B4D8"/>
                </a:solidFill>
              </a:rPr>
              <a:t>Backend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801368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TypeScript + Node 22 (ESM)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1305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Hono — lightweight HTTP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79192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" y="25694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Prisma ORM (v7) + prisma-client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18104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" y="30083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Zod — schema validation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57016"/>
            <a:ext cx="731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8" y="34472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ioredis — Redis client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27832" y="1005840"/>
            <a:ext cx="2834640" cy="5303520"/>
          </a:xfrm>
          <a:prstGeom prst="rect">
            <a:avLst/>
          </a:prstGeom>
          <a:solidFill>
            <a:srgbClr val="12283D"/>
          </a:solidFill>
          <a:ln w="19050">
            <a:solidFill>
              <a:srgbClr val="06D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1097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6D6A0"/>
                </a:solidFill>
              </a:rPr>
              <a:t>Frontend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19272" y="1572768"/>
            <a:ext cx="2651760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64992" y="1801368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0440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React 19 + React Router v7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64992" y="2240280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21305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UnoCSS — atomic styling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2679192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25694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TanStack Query — data fetching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64992" y="3118104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30083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Jotai — state management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64992" y="3557016"/>
            <a:ext cx="73152" cy="7315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4472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Mapbox GL / React Map GL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27064" y="1005840"/>
            <a:ext cx="2834640" cy="5303520"/>
          </a:xfrm>
          <a:prstGeom prst="rect">
            <a:avLst/>
          </a:prstGeom>
          <a:solidFill>
            <a:srgbClr val="12283D"/>
          </a:solidFill>
          <a:ln w="19050">
            <a:solidFill>
              <a:srgbClr val="FFB70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64224" y="1097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B703"/>
                </a:solidFill>
              </a:rPr>
              <a:t>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18504" y="1572768"/>
            <a:ext cx="2651760" cy="3657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64224" y="1801368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PostgreSQL 16 (per service)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4224" y="2240280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9672" y="21305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PostGIS (spatial queries)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64224" y="2679192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9672" y="25694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Redis Streams (event bus)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64224" y="3118104"/>
            <a:ext cx="73152" cy="7315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9672" y="30083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Prisma Migrations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26296" y="1005840"/>
            <a:ext cx="2834640" cy="5303520"/>
          </a:xfrm>
          <a:prstGeom prst="rect">
            <a:avLst/>
          </a:prstGeom>
          <a:solidFill>
            <a:srgbClr val="12283D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6" y="10972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0E0EF"/>
                </a:solidFill>
              </a:rPr>
              <a:t>Tooling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17736" y="1572768"/>
            <a:ext cx="2651760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63456" y="1801368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18904" y="16916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pnpm workspaces (monorepo)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363456" y="2240280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18904" y="213055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esbuild — bundler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63456" y="2679192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18904" y="2569464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Biome — linter / formatter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63456" y="3118104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18904" y="3008376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tsx — TS execution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63456" y="3557016"/>
            <a:ext cx="7315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18904" y="3447288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OpenAPI / Swagger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Real-Time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1417320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E0EF"/>
                </a:solidFill>
              </a:rPr>
              <a:t>Server-Sent Events (SSE)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7043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D6A0"/>
                </a:solidFill>
              </a:rPr>
              <a:t>/api/dispatch/tracking/live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Dispatch service streams vehicle location updates to the frontend in real-time. Clients connect once; server pushes JSON frames. No polling, no WebSocket handshake overhead.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97480"/>
            <a:ext cx="11247120" cy="1417320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770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E0EF"/>
                </a:solidFill>
              </a:rPr>
              <a:t>Redis Pub/Sub for Fan-out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77063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D6A0"/>
                </a:solidFill>
              </a:rPr>
              <a:t>tracking-bus.ts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004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 shared in-process tracking bus broadcasts updates to all connected SSE clients within a service instance. Redis Streams handle cross-service fan-out for event persistence.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297680"/>
            <a:ext cx="11247120" cy="1417320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3708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0E0EF"/>
                </a:solidFill>
              </a:rPr>
              <a:t>Incident Status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4370832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6D6A0"/>
                </a:solidFill>
              </a:rPr>
              <a:t>created → dispatched → in_progress → resolved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State transitions trigger Outbox events that cascade through the system — dispatch auto-assigns vehicles, analytics ingests the fact.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3152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Monorepo &amp; Developer Experience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47120" cy="658368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pnpm Workspaces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20700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All services in one repo — shared tooling, single install, consistent Node 22 engine.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01952"/>
            <a:ext cx="11247120" cy="658368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common package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011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Shared utilities and UI primitives consumed by client and services — no duplication.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06624"/>
            <a:ext cx="11247120" cy="658368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1635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Biome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81635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Single linter + formatter replacing ESLint + Prettier. Faster, zero config conflicts.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11296"/>
            <a:ext cx="11247120" cy="658368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210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Per-service DBs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62102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Each service runs prisma migrate independently — no coordinated schema deploys.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15968"/>
            <a:ext cx="11247120" cy="658368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256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OpenAPI / Swagger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442569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Every backend service exposes /doc and /ui endpoints — self-documenting APIs.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120640"/>
            <a:ext cx="11247120" cy="658368"/>
          </a:xfrm>
          <a:prstGeom prst="rect">
            <a:avLst/>
          </a:prstGeom>
          <a:solidFill>
            <a:srgbClr val="12283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303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0E0EF"/>
                </a:solidFill>
              </a:rPr>
              <a:t>env sync script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2303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scripts/sync-envs.mjs propagates shared env vars to all services on postinstall.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1228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B4D8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3969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Microservices with clear bounded contexts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15184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Database-per-service for full isolation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90672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62656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Transactional Outbox for reliable messaging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43814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JWT RS256 — auth at the edge, not in each service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041648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91363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Real-time SSE for live vehicle tracking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17136"/>
            <a:ext cx="109728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8912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6E0"/>
                </a:solidFill>
              </a:rPr>
              <a:t>Monorepo DX with pnpm + Biome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2860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B4D8"/>
                </a:solidFill>
              </a:rPr>
              <a:t>MW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Emergency Response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